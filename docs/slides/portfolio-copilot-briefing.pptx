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0" y="0"/>
            <a:ext cx="4187952" cy="68580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06640" y="777240"/>
            <a:ext cx="4480560" cy="5212080"/>
          </a:xfrm>
          <a:prstGeom prst="rect">
            <a:avLst/>
          </a:prstGeom>
          <a:solidFill>
            <a:srgbClr val="214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18120" y="1143000"/>
            <a:ext cx="3657600" cy="914400"/>
          </a:xfrm>
          <a:prstGeom prst="rect">
            <a:avLst/>
          </a:prstGeom>
          <a:solidFill>
            <a:srgbClr val="5B7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818120" y="2331720"/>
            <a:ext cx="2926080" cy="777240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3401568"/>
            <a:ext cx="3794760" cy="1143000"/>
          </a:xfrm>
          <a:prstGeom prst="rect">
            <a:avLst/>
          </a:prstGeom>
          <a:solidFill>
            <a:srgbClr val="D9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18120" y="4864608"/>
            <a:ext cx="2514600" cy="566928"/>
          </a:xfrm>
          <a:prstGeom prst="rect">
            <a:avLst/>
          </a:prstGeom>
          <a:solidFill>
            <a:srgbClr val="E9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685800"/>
            <a:ext cx="1645920" cy="347472"/>
          </a:xfrm>
          <a:prstGeom prst="roundRect">
            <a:avLst/>
          </a:prstGeom>
          <a:solidFill>
            <a:srgbClr val="234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713232"/>
            <a:ext cx="149961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アプリ説明資料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"/>
            <a:ext cx="8869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 Display"/>
              </a:rPr>
              <a:t>Portfolio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188720"/>
            <a:ext cx="8778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AF0F6"/>
                </a:solidFill>
                <a:latin typeface="Aptos"/>
              </a:rPr>
              <a:t>ポートフォリオ確認、AI対話、提案書ドラフト生成の流れを整理した資料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965960"/>
            <a:ext cx="6217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金融業務を題材にしたローカル実行アプリとして、利用者視点の操作と構成を順に確認できる。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840480"/>
            <a:ext cx="196596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977640"/>
            <a:ext cx="16367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6324F"/>
                </a:solidFill>
                <a:latin typeface="Aptos Display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608576"/>
            <a:ext cx="163677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26578"/>
                </a:solidFill>
                <a:latin typeface="Aptos"/>
              </a:rPr>
              <a:t>サンプルポートフォリオ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956048"/>
            <a:ext cx="163677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26578"/>
                </a:solidFill>
                <a:latin typeface="Aptos"/>
              </a:rPr>
              <a:t>SQLite へ初期登録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16352" y="3840480"/>
            <a:ext cx="196596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80944" y="3977640"/>
            <a:ext cx="16367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6324F"/>
                </a:solidFill>
                <a:latin typeface="Aptos Display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0944" y="4608576"/>
            <a:ext cx="163677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26578"/>
                </a:solidFill>
                <a:latin typeface="Aptos"/>
              </a:rPr>
              <a:t>AI プロバイダ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80944" y="4956048"/>
            <a:ext cx="163677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26578"/>
                </a:solidFill>
                <a:latin typeface="Aptos"/>
              </a:rPr>
              <a:t>OpenAI 既定 / Anthropic 切替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74336" y="3840480"/>
            <a:ext cx="196596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38928" y="3977640"/>
            <a:ext cx="16367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6324F"/>
                </a:solidFill>
                <a:latin typeface="Aptos Display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4608576"/>
            <a:ext cx="163677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26578"/>
                </a:solidFill>
                <a:latin typeface="Aptos"/>
              </a:rPr>
              <a:t>説明テーマ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4956048"/>
            <a:ext cx="163677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26578"/>
                </a:solidFill>
                <a:latin typeface="Aptos"/>
              </a:rPr>
              <a:t>機能、操作、構成、環境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199632"/>
            <a:ext cx="10927080" cy="347472"/>
          </a:xfrm>
          <a:prstGeom prst="rect">
            <a:avLst/>
          </a:prstGeom>
          <a:solidFill>
            <a:srgbClr val="203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6227064"/>
            <a:ext cx="10561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README、仕様書、実装コードをもとに事実ベースで構成している。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869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933"/>
                </a:solidFill>
                <a:latin typeface="Aptos Display"/>
              </a:rPr>
              <a:t>1. アプリ概要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8778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6578"/>
                </a:solidFill>
                <a:latin typeface="Aptos"/>
              </a:rPr>
              <a:t>利用場面と、このアプリで短時間に把握できること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411480"/>
            <a:ext cx="731520" cy="310896"/>
          </a:xfrm>
          <a:prstGeom prst="roundRect">
            <a:avLst/>
          </a:prstGeom>
          <a:solidFill>
            <a:srgbClr val="E3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00232" y="438912"/>
            <a:ext cx="5852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324F"/>
                </a:solidFill>
                <a:latin typeface="Aptos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7947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B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737360"/>
            <a:ext cx="1417320" cy="310896"/>
          </a:xfrm>
          <a:prstGeom prst="roundRect">
            <a:avLst/>
          </a:prstGeom>
          <a:solidFill>
            <a:srgbClr val="E3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64792"/>
            <a:ext cx="12710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324F"/>
                </a:solidFill>
                <a:latin typeface="Aptos"/>
              </a:rPr>
              <a:t>利用シーン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76272"/>
            <a:ext cx="32461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2933"/>
                </a:solidFill>
                <a:latin typeface="Aptos Display"/>
              </a:rPr>
              <a:t>金融機関での提案準備や説明の流れを題材にしたローカル実行のサンプルアプリ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実運用の確定判断ではなく、検討用ドラフトの整理と説明を目的とする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246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324F"/>
                </a:solidFill>
                <a:latin typeface="Aptos"/>
              </a:rPr>
              <a:t>画面で確認できる内容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1. ポートフォリオ概要と保有比率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2. AI との相談履歴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3. 最新の提案書ドラフト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554480"/>
            <a:ext cx="32461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73752" y="1719072"/>
            <a:ext cx="420624" cy="420624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3752" y="171907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719072"/>
            <a:ext cx="23774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3"/>
                </a:solidFill>
                <a:latin typeface="Aptos Display"/>
              </a:rPr>
              <a:t>利用者が見る中心画面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2304288"/>
            <a:ext cx="2916936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一覧から対象ポートフォリオを選ぶと、目的、リスク、投資金額、保有明細を同じ画面で確認できる。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1554480"/>
            <a:ext cx="33375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75904" y="1719072"/>
            <a:ext cx="420624" cy="420624"/>
          </a:xfrm>
          <a:prstGeom prst="ellipse">
            <a:avLst/>
          </a:prstGeom>
          <a:solidFill>
            <a:srgbClr val="5B7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171907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1719072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3"/>
                </a:solidFill>
                <a:latin typeface="Aptos Display"/>
              </a:rPr>
              <a:t>相談の流れが切れにくい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2304288"/>
            <a:ext cx="3008376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AI への相談結果は保存され、画面を再表示しても履歴として残る。後続の提案書生成にも流用できる。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3703320"/>
            <a:ext cx="32461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73752" y="3867911"/>
            <a:ext cx="420624" cy="420624"/>
          </a:xfrm>
          <a:prstGeom prst="ellipse">
            <a:avLst/>
          </a:prstGeom>
          <a:solidFill>
            <a:srgbClr val="3E6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73752" y="386791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867911"/>
            <a:ext cx="23774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3"/>
                </a:solidFill>
                <a:latin typeface="Aptos Display"/>
              </a:rPr>
              <a:t>ローカルで起動しやすい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3752" y="4453128"/>
            <a:ext cx="2916936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Spring Boot と SQLite を使い、クラウド配備なしでデモ可能。環境差分を小さくしやすい。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11312" y="3703320"/>
            <a:ext cx="33375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75904" y="3867911"/>
            <a:ext cx="420624" cy="420624"/>
          </a:xfrm>
          <a:prstGeom prst="ellipse">
            <a:avLst/>
          </a:prstGeom>
          <a:solidFill>
            <a:srgbClr val="9B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5904" y="386791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7112" y="3867911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3"/>
                </a:solidFill>
                <a:latin typeface="Aptos Display"/>
              </a:rPr>
              <a:t>構成を説明しやすい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4453128"/>
            <a:ext cx="3008376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Web、サービス、SQLite、AI API の役割が分かれており、処理の流れを追いやすい。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199632"/>
            <a:ext cx="10927080" cy="347472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6227064"/>
            <a:ext cx="10561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578"/>
                </a:solidFill>
                <a:latin typeface="Aptos"/>
              </a:rPr>
              <a:t>README、仕様書、主要実装を参照して説明内容を構成している。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869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933"/>
                </a:solidFill>
                <a:latin typeface="Aptos Display"/>
              </a:rPr>
              <a:t>2. 主な機能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8778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6578"/>
                </a:solidFill>
                <a:latin typeface="Aptos"/>
              </a:rPr>
              <a:t>利用者目線で見たときに何ができるか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411480"/>
            <a:ext cx="731520" cy="310896"/>
          </a:xfrm>
          <a:prstGeom prst="roundRect">
            <a:avLst/>
          </a:prstGeom>
          <a:solidFill>
            <a:srgbClr val="E3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00232" y="438912"/>
            <a:ext cx="5852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324F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1" y="1719072"/>
            <a:ext cx="420624" cy="420624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71907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719072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3"/>
                </a:solidFill>
                <a:latin typeface="Aptos Display"/>
              </a:rPr>
              <a:t>ポートフォリオ閲覧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304288"/>
            <a:ext cx="241401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一覧からサンプルデータを選択し、目的、顧客区分、リスク属性、投資金額を把握できる。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9312" y="155448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03904" y="1719072"/>
            <a:ext cx="420624" cy="420624"/>
          </a:xfrm>
          <a:prstGeom prst="ellipse">
            <a:avLst/>
          </a:prstGeom>
          <a:solidFill>
            <a:srgbClr val="5B7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03904" y="171907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1719072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3"/>
                </a:solidFill>
                <a:latin typeface="Aptos Display"/>
              </a:rPr>
              <a:t>保有比率の比較表示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3904" y="2304288"/>
            <a:ext cx="241401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Allocation Overview と一覧表の両方で、保有銘柄、比率、市場価値を確認できる。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38544" y="155448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03136" y="1719072"/>
            <a:ext cx="420624" cy="420624"/>
          </a:xfrm>
          <a:prstGeom prst="ellipse">
            <a:avLst/>
          </a:prstGeom>
          <a:solidFill>
            <a:srgbClr val="3E6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171907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24344" y="1719072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3"/>
                </a:solidFill>
                <a:latin typeface="Aptos Display"/>
              </a:rPr>
              <a:t>AI 対話支援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3136" y="2304288"/>
            <a:ext cx="241401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相談内容を送ると、ポートフォリオ文脈と過去履歴を使って論点整理の回答を返す。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37776" y="1554480"/>
            <a:ext cx="1920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02367" y="1719072"/>
            <a:ext cx="420624" cy="420624"/>
          </a:xfrm>
          <a:prstGeom prst="ellipse">
            <a:avLst/>
          </a:prstGeom>
          <a:solidFill>
            <a:srgbClr val="9B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02367" y="171907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23576" y="1719072"/>
            <a:ext cx="1051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3"/>
                </a:solidFill>
                <a:latin typeface="Aptos Display"/>
              </a:rPr>
              <a:t>提案書ドラフト生成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7" y="2304288"/>
            <a:ext cx="159105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会話履歴を踏まえ、最新ドラフトを画面内に表示する。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794760"/>
            <a:ext cx="5212080" cy="1691640"/>
          </a:xfrm>
          <a:prstGeom prst="round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041648"/>
            <a:ext cx="4754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324F"/>
                </a:solidFill>
                <a:latin typeface="Aptos Display"/>
              </a:rPr>
              <a:t>ユーザーにとっての見え方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6578"/>
                </a:solidFill>
                <a:latin typeface="Aptos"/>
              </a:rPr>
              <a:t>単独画面で、確認、相談、ドラフト生成を続けて実行できる。業務説明の途中で画面を行き来しなくてよい。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3794760"/>
            <a:ext cx="5440680" cy="1691640"/>
          </a:xfrm>
          <a:prstGeom prst="roundRect">
            <a:avLst/>
          </a:prstGeom>
          <a:solidFill>
            <a:srgbClr val="E9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041648"/>
            <a:ext cx="49377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E6A52"/>
                </a:solidFill>
                <a:latin typeface="Aptos Display"/>
              </a:rPr>
              <a:t>注意点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6578"/>
                </a:solidFill>
                <a:latin typeface="Aptos"/>
              </a:rPr>
              <a:t>AI 出力は内部検討用のドラフト支援として扱う。設定不足や API 失敗時は明示的なエラー応答を返す設計になっている。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199632"/>
            <a:ext cx="10927080" cy="347472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6227064"/>
            <a:ext cx="10561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578"/>
                </a:solidFill>
                <a:latin typeface="Aptos"/>
              </a:rPr>
              <a:t>要件書の 2. Portfolio Management、3. AI Discussion Support、4. Proposal Draft Generation に対応。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869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933"/>
                </a:solidFill>
                <a:latin typeface="Aptos Display"/>
              </a:rPr>
              <a:t>3. 操作方法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8778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6578"/>
                </a:solidFill>
                <a:latin typeface="Aptos"/>
              </a:rPr>
              <a:t>初見の利用者が追いやすい順序で整理した操作フロー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411480"/>
            <a:ext cx="731520" cy="310896"/>
          </a:xfrm>
          <a:prstGeom prst="roundRect">
            <a:avLst/>
          </a:prstGeom>
          <a:solidFill>
            <a:srgbClr val="E3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00232" y="438912"/>
            <a:ext cx="5852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324F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2240280" cy="2331720"/>
          </a:xfrm>
          <a:prstGeom prst="round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59" y="1993392"/>
            <a:ext cx="402336" cy="402336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9339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1993392"/>
            <a:ext cx="1399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933"/>
                </a:solidFill>
                <a:latin typeface="Aptos Display"/>
              </a:rPr>
              <a:t>対象を選ぶ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487168"/>
            <a:ext cx="1911096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一覧からポートフォリオを開く。既定では最初の対象が表示される。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28800"/>
            <a:ext cx="224028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66160" y="1993392"/>
            <a:ext cx="402336" cy="402336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99339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8224" y="1993392"/>
            <a:ext cx="1399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933"/>
                </a:solidFill>
                <a:latin typeface="Aptos Display"/>
              </a:rPr>
              <a:t>配分を確認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487168"/>
            <a:ext cx="1911096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目的、リスク、投資金額、保有銘柄と配分を確認する。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1828800"/>
            <a:ext cx="2240280" cy="2331720"/>
          </a:xfrm>
          <a:prstGeom prst="roundRect">
            <a:avLst/>
          </a:prstGeom>
          <a:solidFill>
            <a:srgbClr val="E9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9359" y="1993392"/>
            <a:ext cx="402336" cy="402336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199339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1993392"/>
            <a:ext cx="1399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933"/>
                </a:solidFill>
                <a:latin typeface="Aptos Display"/>
              </a:rPr>
              <a:t>AIに相談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487168"/>
            <a:ext cx="1911096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相談内容を送信する。正常時は再読込後に履歴へ反映される。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1828800"/>
            <a:ext cx="2240280" cy="2331720"/>
          </a:xfrm>
          <a:prstGeom prst="roundRect">
            <a:avLst/>
          </a:prstGeom>
          <a:solidFill>
            <a:srgbClr val="F8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52560" y="1993392"/>
            <a:ext cx="402336" cy="402336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199339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64624" y="1993392"/>
            <a:ext cx="1399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2933"/>
                </a:solidFill>
                <a:latin typeface="Aptos Display"/>
              </a:rPr>
              <a:t>ドラフトを生成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487168"/>
            <a:ext cx="1911096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提案書ドラフトを生成し、会話履歴とあわせて見直す。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898648" y="2971800"/>
            <a:ext cx="320040" cy="0"/>
          </a:xfrm>
          <a:prstGeom prst="line">
            <a:avLst/>
          </a:prstGeom>
          <a:ln w="19050">
            <a:solidFill>
              <a:srgbClr val="5B7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41848" y="2971800"/>
            <a:ext cx="320040" cy="0"/>
          </a:xfrm>
          <a:prstGeom prst="line">
            <a:avLst/>
          </a:prstGeom>
          <a:ln w="19050">
            <a:solidFill>
              <a:srgbClr val="5B7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85048" y="2971800"/>
            <a:ext cx="320040" cy="0"/>
          </a:xfrm>
          <a:prstGeom prst="line">
            <a:avLst/>
          </a:prstGeom>
          <a:ln w="19050">
            <a:solidFill>
              <a:srgbClr val="5B7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77240" y="4709160"/>
            <a:ext cx="10972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91947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補足: API エラーや設定不足がある場合は status 領域にメッセージを出し、黙って既定値に置き換えることはしない。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199632"/>
            <a:ext cx="10927080" cy="347472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6227064"/>
            <a:ext cx="10561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578"/>
                </a:solidFill>
                <a:latin typeface="Aptos"/>
              </a:rPr>
              <a:t>画面操作は `GET /portfolios` と `POST /api/portfolios/{id}/chat` / `proposal` を起点にしている。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869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933"/>
                </a:solidFill>
                <a:latin typeface="Aptos Display"/>
              </a:rPr>
              <a:t>4. アーキテクチャ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8778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6578"/>
                </a:solidFill>
                <a:latin typeface="Aptos"/>
              </a:rPr>
              <a:t>UI からデータ保存、AI 連携までの流れ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411480"/>
            <a:ext cx="731520" cy="310896"/>
          </a:xfrm>
          <a:prstGeom prst="roundRect">
            <a:avLst/>
          </a:prstGeom>
          <a:solidFill>
            <a:srgbClr val="E3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00232" y="438912"/>
            <a:ext cx="5852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324F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828800" cy="100584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792224"/>
            <a:ext cx="384048" cy="384048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7922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773936"/>
            <a:ext cx="1060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3"/>
                </a:solidFill>
                <a:latin typeface="Aptos Display"/>
              </a:rPr>
              <a:t>Browser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249424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578"/>
                </a:solidFill>
                <a:latin typeface="Aptos"/>
              </a:rPr>
              <a:t>Thymeleaf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578"/>
                </a:solidFill>
                <a:latin typeface="Aptos"/>
              </a:rPr>
              <a:t>Vanilla 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645920"/>
            <a:ext cx="1828800" cy="1005840"/>
          </a:xfrm>
          <a:prstGeom prst="roundRect">
            <a:avLst/>
          </a:prstGeom>
          <a:solidFill>
            <a:srgbClr val="E3EBF3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80944" y="1792224"/>
            <a:ext cx="384048" cy="384048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80944" y="17922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1773936"/>
            <a:ext cx="1060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3"/>
                </a:solidFill>
                <a:latin typeface="Aptos Display"/>
              </a:rPr>
              <a:t>Web 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2249424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578"/>
                </a:solidFill>
                <a:latin typeface="Aptos"/>
              </a:rPr>
              <a:t>PortfolioController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578"/>
                </a:solidFill>
                <a:latin typeface="Aptos"/>
              </a:rPr>
              <a:t>AiController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1645920"/>
            <a:ext cx="2011680" cy="1005840"/>
          </a:xfrm>
          <a:prstGeom prst="roundRect">
            <a:avLst/>
          </a:prstGeom>
          <a:solidFill>
            <a:srgbClr val="E9F4EF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84064" y="1792224"/>
            <a:ext cx="384048" cy="384048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4064" y="17922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1773936"/>
            <a:ext cx="1243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3"/>
                </a:solidFill>
                <a:latin typeface="Aptos Display"/>
              </a:rPr>
              <a:t>Application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2249424"/>
            <a:ext cx="16824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578"/>
                </a:solidFill>
                <a:latin typeface="Aptos"/>
              </a:rPr>
              <a:t>Portfolio / Discussion 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578"/>
                </a:solidFill>
                <a:latin typeface="Aptos"/>
              </a:rPr>
              <a:t>Proposal Service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1097280"/>
            <a:ext cx="19659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15783" y="1243584"/>
            <a:ext cx="384048" cy="384048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15783" y="124358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2" y="1225295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3"/>
                </a:solidFill>
                <a:latin typeface="Aptos Display"/>
              </a:rPr>
              <a:t>JDBC Repo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1700784"/>
            <a:ext cx="16367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578"/>
                </a:solidFill>
                <a:latin typeface="Aptos"/>
              </a:rPr>
              <a:t>Portfolio / Holding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578"/>
                </a:solidFill>
                <a:latin typeface="Aptos"/>
              </a:rPr>
              <a:t>Conversation / Proposal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80" y="2743200"/>
            <a:ext cx="1965960" cy="914400"/>
          </a:xfrm>
          <a:prstGeom prst="roundRect">
            <a:avLst/>
          </a:prstGeom>
          <a:solidFill>
            <a:srgbClr val="F8F0E3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15783" y="2889504"/>
            <a:ext cx="384048" cy="384048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15783" y="288950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1272" y="2871216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3"/>
                </a:solidFill>
                <a:latin typeface="Aptos Display"/>
              </a:rPr>
              <a:t>SQLite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34072" y="3346704"/>
            <a:ext cx="16367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578"/>
                </a:solidFill>
                <a:latin typeface="Aptos"/>
              </a:rPr>
              <a:t>portfolio-copilot.db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578"/>
                </a:solidFill>
                <a:latin typeface="Aptos"/>
              </a:rPr>
              <a:t>schema.sql / data.sql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480" y="1645920"/>
            <a:ext cx="1828800" cy="100584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01784" y="1792224"/>
            <a:ext cx="384048" cy="384048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01784" y="17922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77272" y="1773936"/>
            <a:ext cx="1060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3"/>
                </a:solidFill>
                <a:latin typeface="Aptos Display"/>
              </a:rPr>
              <a:t>AI API Client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0072" y="2249424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578"/>
                </a:solidFill>
                <a:latin typeface="Aptos"/>
              </a:rPr>
              <a:t>OpenAI default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578"/>
                </a:solidFill>
                <a:latin typeface="Aptos"/>
              </a:rPr>
              <a:t>Anthropic optional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00600" y="3749039"/>
            <a:ext cx="22860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946904" y="3895344"/>
            <a:ext cx="384048" cy="384048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46904" y="389534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22392" y="3877055"/>
            <a:ext cx="15179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3"/>
                </a:solidFill>
                <a:latin typeface="Aptos Display"/>
              </a:rPr>
              <a:t>Prompt / Config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65192" y="4352544"/>
            <a:ext cx="195681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578"/>
                </a:solidFill>
                <a:latin typeface="Aptos"/>
              </a:rPr>
              <a:t>PromptBuilder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526578"/>
                </a:solidFill>
                <a:latin typeface="Aptos"/>
              </a:rPr>
              <a:t>AI provider settings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560320" y="2148840"/>
            <a:ext cx="274320" cy="0"/>
          </a:xfrm>
          <a:prstGeom prst="line">
            <a:avLst/>
          </a:prstGeom>
          <a:ln w="19050">
            <a:solidFill>
              <a:srgbClr val="5B7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663440" y="2148840"/>
            <a:ext cx="274320" cy="0"/>
          </a:xfrm>
          <a:prstGeom prst="line">
            <a:avLst/>
          </a:prstGeom>
          <a:ln w="19050">
            <a:solidFill>
              <a:srgbClr val="5B7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6949440" y="1600200"/>
            <a:ext cx="365760" cy="548640"/>
          </a:xfrm>
          <a:prstGeom prst="line">
            <a:avLst/>
          </a:prstGeom>
          <a:ln w="19050">
            <a:solidFill>
              <a:srgbClr val="5B7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949440" y="2148840"/>
            <a:ext cx="2606040" cy="0"/>
          </a:xfrm>
          <a:prstGeom prst="line">
            <a:avLst/>
          </a:prstGeom>
          <a:ln w="19050">
            <a:solidFill>
              <a:srgbClr val="5B7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275320" y="2103120"/>
            <a:ext cx="0" cy="640080"/>
          </a:xfrm>
          <a:prstGeom prst="line">
            <a:avLst/>
          </a:prstGeom>
          <a:ln w="19050">
            <a:solidFill>
              <a:srgbClr val="5B7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943600" y="2697480"/>
            <a:ext cx="0" cy="1051559"/>
          </a:xfrm>
          <a:prstGeom prst="line">
            <a:avLst/>
          </a:prstGeom>
          <a:ln w="19050">
            <a:solidFill>
              <a:srgbClr val="5B7C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31520" y="4828032"/>
            <a:ext cx="3383280" cy="777240"/>
          </a:xfrm>
          <a:prstGeom prst="round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5010912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324F"/>
                </a:solidFill>
                <a:latin typeface="Aptos Display"/>
              </a:rPr>
              <a:t>ポイント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578"/>
                </a:solidFill>
                <a:latin typeface="Aptos"/>
              </a:rPr>
              <a:t>UI とサービスを分け、永続化と AI 呼び出しをサービス層で集約する。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89120" y="4828032"/>
            <a:ext cx="3383280" cy="777240"/>
          </a:xfrm>
          <a:prstGeom prst="roundRect">
            <a:avLst/>
          </a:prstGeom>
          <a:solidFill>
            <a:srgbClr val="E9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90288" y="5010912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6A52"/>
                </a:solidFill>
                <a:latin typeface="Aptos Display"/>
              </a:rPr>
              <a:t>ポイント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578"/>
                </a:solidFill>
                <a:latin typeface="Aptos"/>
              </a:rPr>
              <a:t>履歴とドラフトは SQLite に保存され、画面再表示でも確認できる。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4828032"/>
            <a:ext cx="3337560" cy="777240"/>
          </a:xfrm>
          <a:prstGeom prst="roundRect">
            <a:avLst/>
          </a:prstGeom>
          <a:solidFill>
            <a:srgbClr val="F8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47888" y="5010912"/>
            <a:ext cx="2953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B6B29"/>
                </a:solidFill>
                <a:latin typeface="Aptos Display"/>
              </a:rPr>
              <a:t>ポイント 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26578"/>
                </a:solidFill>
                <a:latin typeface="Aptos"/>
              </a:rPr>
              <a:t>プロンプト生成と AI 接続設定を分け、応答生成の前提を把握しやすくしている。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6199632"/>
            <a:ext cx="10927080" cy="347472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4672" y="6227064"/>
            <a:ext cx="10561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578"/>
                </a:solidFill>
                <a:latin typeface="Aptos"/>
              </a:rPr>
              <a:t>図中のノードはすべて番号付き。design.md の構成をスライド向けに整理している。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869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933"/>
                </a:solidFill>
                <a:latin typeface="Aptos Display"/>
              </a:rPr>
              <a:t>5. 技術スタック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8778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6578"/>
                </a:solidFill>
                <a:latin typeface="Aptos"/>
              </a:rPr>
              <a:t>役割ごとに分けて把握できる構成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411480"/>
            <a:ext cx="731520" cy="310896"/>
          </a:xfrm>
          <a:prstGeom prst="roundRect">
            <a:avLst/>
          </a:prstGeom>
          <a:solidFill>
            <a:srgbClr val="E3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00232" y="438912"/>
            <a:ext cx="5852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324F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5661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55063"/>
            <a:ext cx="32369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3"/>
                </a:solidFill>
                <a:latin typeface="Aptos Display"/>
              </a:rPr>
              <a:t>UI と操作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11680"/>
            <a:ext cx="32369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26578"/>
                </a:solidFill>
                <a:latin typeface="Aptos"/>
              </a:rPr>
              <a:t>Thymeleaf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26578"/>
                </a:solidFill>
                <a:latin typeface="Aptos"/>
              </a:rPr>
              <a:t>Vanilla JS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26578"/>
                </a:solidFill>
                <a:latin typeface="Aptos"/>
              </a:rPr>
              <a:t>単一画面で確認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26080"/>
            <a:ext cx="35661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072384"/>
            <a:ext cx="32369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3"/>
                </a:solidFill>
                <a:latin typeface="Aptos Display"/>
              </a:rPr>
              <a:t>アプリ本体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429000"/>
            <a:ext cx="32369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26578"/>
                </a:solidFill>
                <a:latin typeface="Aptos"/>
              </a:rPr>
              <a:t>Spring Boot 3.5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26578"/>
                </a:solidFill>
                <a:latin typeface="Aptos"/>
              </a:rPr>
              <a:t>Java 21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26578"/>
                </a:solidFill>
                <a:latin typeface="Aptos"/>
              </a:rPr>
              <a:t>Controller・Service 分離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343400"/>
            <a:ext cx="35661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4489704"/>
            <a:ext cx="32369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3"/>
                </a:solidFill>
                <a:latin typeface="Aptos Display"/>
              </a:rPr>
              <a:t>データ保存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846320"/>
            <a:ext cx="323697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26578"/>
                </a:solidFill>
                <a:latin typeface="Aptos"/>
              </a:rPr>
              <a:t>SQLite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26578"/>
                </a:solidFill>
                <a:latin typeface="Aptos"/>
              </a:rPr>
              <a:t>JdbcClient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26578"/>
                </a:solidFill>
                <a:latin typeface="Aptos"/>
              </a:rPr>
              <a:t>schema.sql・data.sql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1508760"/>
            <a:ext cx="3383280" cy="128016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1655063"/>
            <a:ext cx="30540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3"/>
                </a:solidFill>
                <a:latin typeface="Aptos Display"/>
              </a:rPr>
              <a:t>AI 連携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011680"/>
            <a:ext cx="30540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26578"/>
                </a:solidFill>
                <a:latin typeface="Aptos"/>
              </a:rPr>
              <a:t>OpenAI 既定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26578"/>
                </a:solidFill>
                <a:latin typeface="Aptos"/>
              </a:rPr>
              <a:t>Anthropic 切替可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26578"/>
                </a:solidFill>
                <a:latin typeface="Aptos"/>
              </a:rPr>
              <a:t>HttpClient 利用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2926080"/>
            <a:ext cx="3383280" cy="1280160"/>
          </a:xfrm>
          <a:prstGeom prst="roundRect">
            <a:avLst/>
          </a:prstGeom>
          <a:solidFill>
            <a:srgbClr val="E9F4EF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90872" y="3072384"/>
            <a:ext cx="30540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3"/>
                </a:solidFill>
                <a:latin typeface="Aptos Display"/>
              </a:rPr>
              <a:t>品質維持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3429000"/>
            <a:ext cx="30540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26578"/>
                </a:solidFill>
                <a:latin typeface="Aptos"/>
              </a:rPr>
              <a:t>Spring Boot Test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26578"/>
                </a:solidFill>
                <a:latin typeface="Aptos"/>
              </a:rPr>
              <a:t>Spotless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26578"/>
                </a:solidFill>
                <a:latin typeface="Aptos"/>
              </a:rPr>
              <a:t>明示的なエラー処理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4343400"/>
            <a:ext cx="3383280" cy="1280160"/>
          </a:xfrm>
          <a:prstGeom prst="roundRect">
            <a:avLst/>
          </a:prstGeom>
          <a:solidFill>
            <a:srgbClr val="E3EBF3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90872" y="4489704"/>
            <a:ext cx="30540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3"/>
                </a:solidFill>
                <a:latin typeface="Aptos Display"/>
              </a:rPr>
              <a:t>プロンプトと設定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4846320"/>
            <a:ext cx="30540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26578"/>
                </a:solidFill>
                <a:latin typeface="Aptos"/>
              </a:rPr>
              <a:t>PromptBuilder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26578"/>
                </a:solidFill>
                <a:latin typeface="Aptos"/>
              </a:rPr>
              <a:t>OpenAI / Anthropic 切替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526578"/>
                </a:solidFill>
                <a:latin typeface="Aptos"/>
              </a:rPr>
              <a:t>API キー必須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1554480"/>
            <a:ext cx="3383280" cy="3794760"/>
          </a:xfrm>
          <a:prstGeom prst="round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8288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 Display"/>
              </a:rPr>
              <a:t>採用理由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331720"/>
            <a:ext cx="2834640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1. ローカル実行しやすい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EAF0F6"/>
                </a:solidFill>
                <a:latin typeface="Aptos"/>
              </a:rPr>
              <a:t>SQLite と Spring Boot を中心に構成し、デモ準備を単純化しやすい。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2. 説明しやすい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EAF0F6"/>
                </a:solidFill>
                <a:latin typeface="Aptos"/>
              </a:rPr>
              <a:t>Web、サービス、リポジトリ、AI 連携の責務を段階的に説明できる。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3. AI 連携の前提が明確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EAF0F6"/>
                </a:solidFill>
                <a:latin typeface="Aptos"/>
              </a:rPr>
              <a:t>プロバイダ切替、API キー、エラー応答の条件を整理しやすい。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199632"/>
            <a:ext cx="10927080" cy="347472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6227064"/>
            <a:ext cx="10561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578"/>
                </a:solidFill>
                <a:latin typeface="Aptos"/>
              </a:rPr>
              <a:t>build.gradle と application.properties、design.md の記述をもとに整理。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869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2933"/>
                </a:solidFill>
                <a:latin typeface="Aptos Display"/>
              </a:rPr>
              <a:t>6. 必要な環境と実行前提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8778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26578"/>
                </a:solidFill>
                <a:latin typeface="Aptos"/>
              </a:rPr>
              <a:t>デモや説明に必要な前提条件を明示する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411480"/>
            <a:ext cx="731520" cy="310896"/>
          </a:xfrm>
          <a:prstGeom prst="roundRect">
            <a:avLst/>
          </a:prstGeom>
          <a:solidFill>
            <a:srgbClr val="E3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00232" y="438912"/>
            <a:ext cx="5852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324F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8862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1508760" cy="310896"/>
          </a:xfrm>
          <a:prstGeom prst="roundRect">
            <a:avLst/>
          </a:prstGeom>
          <a:solidFill>
            <a:srgbClr val="E3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56231"/>
            <a:ext cx="136245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324F"/>
                </a:solidFill>
                <a:latin typeface="Aptos"/>
              </a:rPr>
              <a:t>前提環境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3429000" cy="324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3"/>
                </a:solidFill>
                <a:latin typeface="Aptos Display"/>
              </a:rPr>
              <a:t>1. Java 21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Gradle toolchain で Java 21 を前提にしている。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2933"/>
                </a:solidFill>
                <a:latin typeface="Aptos Display"/>
              </a:rPr>
              <a:t>2. ローカル実行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`./gradlew bootRun` 実行後に `http://localhost:8080/portfolios` を開く。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2933"/>
                </a:solidFill>
                <a:latin typeface="Aptos Display"/>
              </a:rPr>
              <a:t>3. AI API キー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OpenAI は `OPENAI_API_KEY`。Anthropic は `app.ai.provider=anthropic` と `ANTHROPIC_API_KEY`。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F2933"/>
                </a:solidFill>
                <a:latin typeface="Aptos Display"/>
              </a:rPr>
              <a:t>4. ローカル保存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SQLite ファイルは `data/portfolio-copilot.db` に作成される。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600200"/>
            <a:ext cx="3154680" cy="4251960"/>
          </a:xfrm>
          <a:prstGeom prst="round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02352" y="1828800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24F"/>
                </a:solidFill>
                <a:latin typeface="Aptos Display"/>
              </a:rPr>
              <a:t>起動手順</a:t>
            </a:r>
          </a:p>
        </p:txBody>
      </p:sp>
      <p:sp>
        <p:nvSpPr>
          <p:cNvPr id="13" name="Oval 12"/>
          <p:cNvSpPr/>
          <p:nvPr/>
        </p:nvSpPr>
        <p:spPr>
          <a:xfrm>
            <a:off x="5102352" y="2331720"/>
            <a:ext cx="347472" cy="347472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2352" y="233172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9552" y="231343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3"/>
                </a:solidFill>
                <a:latin typeface="Aptos"/>
              </a:rPr>
              <a:t>1. API キーを設定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9552" y="2551176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578"/>
                </a:solidFill>
                <a:latin typeface="Aptos"/>
              </a:rPr>
              <a:t>OpenAI または Anthropic の環境変数を設定する。</a:t>
            </a:r>
          </a:p>
        </p:txBody>
      </p:sp>
      <p:sp>
        <p:nvSpPr>
          <p:cNvPr id="17" name="Oval 16"/>
          <p:cNvSpPr/>
          <p:nvPr/>
        </p:nvSpPr>
        <p:spPr>
          <a:xfrm>
            <a:off x="5102352" y="3136391"/>
            <a:ext cx="347472" cy="347472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2352" y="3136391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9552" y="3118103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3"/>
                </a:solidFill>
                <a:latin typeface="Aptos"/>
              </a:rPr>
              <a:t>2. アプリを起動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3355848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578"/>
                </a:solidFill>
                <a:latin typeface="Aptos"/>
              </a:rPr>
              <a:t>`./gradlew bootRun` を実行する。</a:t>
            </a:r>
          </a:p>
        </p:txBody>
      </p:sp>
      <p:sp>
        <p:nvSpPr>
          <p:cNvPr id="21" name="Oval 20"/>
          <p:cNvSpPr/>
          <p:nvPr/>
        </p:nvSpPr>
        <p:spPr>
          <a:xfrm>
            <a:off x="5102352" y="3941063"/>
            <a:ext cx="347472" cy="347472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2" y="394106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9552" y="3922776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3"/>
                </a:solidFill>
                <a:latin typeface="Aptos"/>
              </a:rPr>
              <a:t>3. ブラウザでアクセス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59552" y="4160520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578"/>
                </a:solidFill>
                <a:latin typeface="Aptos"/>
              </a:rPr>
              <a:t>`/portfolios` を開く。</a:t>
            </a:r>
          </a:p>
        </p:txBody>
      </p:sp>
      <p:sp>
        <p:nvSpPr>
          <p:cNvPr id="25" name="Oval 24"/>
          <p:cNvSpPr/>
          <p:nvPr/>
        </p:nvSpPr>
        <p:spPr>
          <a:xfrm>
            <a:off x="5102352" y="4745736"/>
            <a:ext cx="347472" cy="347472"/>
          </a:xfrm>
          <a:prstGeom prst="ellipse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2352" y="474573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9552" y="472744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933"/>
                </a:solidFill>
                <a:latin typeface="Aptos"/>
              </a:rPr>
              <a:t>4. 動作確認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59552" y="4965192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578"/>
                </a:solidFill>
                <a:latin typeface="Aptos"/>
              </a:rPr>
              <a:t>相談送信とドラフト生成を試し、明示エラーも確認する。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1600200"/>
            <a:ext cx="3337560" cy="4251960"/>
          </a:xfrm>
          <a:prstGeom prst="roundRect">
            <a:avLst/>
          </a:prstGeom>
          <a:solidFill>
            <a:srgbClr val="F8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85632" y="18288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B6B29"/>
                </a:solidFill>
                <a:latin typeface="Aptos Display"/>
              </a:rPr>
              <a:t>運用上の注意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2331720"/>
            <a:ext cx="278892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933"/>
                </a:solidFill>
                <a:latin typeface="Aptos"/>
              </a:rPr>
              <a:t>設定不足のまま使わない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API キー未設定時は明示的に失敗する前提。回避のための既定値投入はしない。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2933"/>
                </a:solidFill>
                <a:latin typeface="Aptos"/>
              </a:rPr>
              <a:t>出力の位置づけを保つ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提案書は内部検討用ドラフトとして扱う。規制上の助言を直接確定する用途ではない。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F2933"/>
                </a:solidFill>
                <a:latin typeface="Aptos"/>
              </a:rPr>
              <a:t>デモ前提を固定する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API キー設定、起動手順、サンプルデータの状態を事前に確認する。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199632"/>
            <a:ext cx="10927080" cy="347472"/>
          </a:xfrm>
          <a:prstGeom prst="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6227064"/>
            <a:ext cx="10561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578"/>
                </a:solidFill>
                <a:latin typeface="Aptos"/>
              </a:rPr>
              <a:t>必要環境は README、build.gradle、application.properties の記述に合わせている。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869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 Display"/>
              </a:rPr>
              <a:t>7. 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8778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AF0F6"/>
                </a:solidFill>
                <a:latin typeface="Aptos"/>
              </a:rPr>
              <a:t>説明時に押さえたい見どころ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27080" y="411480"/>
            <a:ext cx="731520" cy="310896"/>
          </a:xfrm>
          <a:prstGeom prst="roundRect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00232" y="438912"/>
            <a:ext cx="5852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324F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26060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1901952"/>
            <a:ext cx="420624" cy="420624"/>
          </a:xfrm>
          <a:prstGeom prst="ellipse">
            <a:avLst/>
          </a:prstGeom>
          <a:solidFill>
            <a:srgbClr val="D9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0195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01952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3"/>
                </a:solidFill>
                <a:latin typeface="Aptos Display"/>
              </a:rPr>
              <a:t>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487168"/>
            <a:ext cx="22768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一覧確認、保有比率、AI 相談、提案書ドラフト生成が一続きで見える。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737360"/>
            <a:ext cx="26060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49039" y="1901952"/>
            <a:ext cx="420624" cy="420624"/>
          </a:xfrm>
          <a:prstGeom prst="ellipse">
            <a:avLst/>
          </a:prstGeom>
          <a:solidFill>
            <a:srgbClr val="D9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190195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1901952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3"/>
                </a:solidFill>
                <a:latin typeface="Aptos Display"/>
              </a:rPr>
              <a:t>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487168"/>
            <a:ext cx="22768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同一画面で確認から生成まで進められ、説明の流れを切りにくい。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83096" y="1737360"/>
            <a:ext cx="26060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47688" y="1901952"/>
            <a:ext cx="420624" cy="420624"/>
          </a:xfrm>
          <a:prstGeom prst="ellipse">
            <a:avLst/>
          </a:prstGeom>
          <a:solidFill>
            <a:srgbClr val="D9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190195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8896" y="1901952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3"/>
                </a:solidFill>
                <a:latin typeface="Aptos Display"/>
              </a:rPr>
              <a:t>構成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487168"/>
            <a:ext cx="22768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Spring Boot、SQLite、AI API の責務分離が分かりやすい。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81744" y="1737360"/>
            <a:ext cx="21488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46336" y="1901952"/>
            <a:ext cx="420624" cy="420624"/>
          </a:xfrm>
          <a:prstGeom prst="ellipse">
            <a:avLst/>
          </a:prstGeom>
          <a:solidFill>
            <a:srgbClr val="D9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6336" y="190195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67544" y="1901952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3"/>
                </a:solidFill>
                <a:latin typeface="Aptos Display"/>
              </a:rPr>
              <a:t>前提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46336" y="2487168"/>
            <a:ext cx="181965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578"/>
                </a:solidFill>
                <a:latin typeface="Aptos"/>
              </a:rPr>
              <a:t>Java 21、Gradle、API キー、ブラウザが主な前提条件。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977639"/>
            <a:ext cx="10844784" cy="1463040"/>
          </a:xfrm>
          <a:prstGeom prst="roundRect">
            <a:avLst/>
          </a:prstGeom>
          <a:solidFill>
            <a:srgbClr val="1F4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279392"/>
            <a:ext cx="1024128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この資料は、実装済みのアプリ機能と仕様書をもとに構成している。説明時は、確認、相談、ドラフト生成の順で追うと全体像を共有しやすい。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199632"/>
            <a:ext cx="10927080" cy="347472"/>
          </a:xfrm>
          <a:prstGeom prst="rect">
            <a:avLst/>
          </a:prstGeom>
          <a:solidFill>
            <a:srgbClr val="203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6227064"/>
            <a:ext cx="105613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Portfolio Copilot の説明資料として `docs/slides/portfolio-copilot-briefing.pptx` に出力。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Copilot 説明資料</dc:title>
  <dc:subject>Portfolio Copilot application briefing</dc:subject>
  <dc:creator>Cursor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ja-JP</dc:language>
</cp:coreProperties>
</file>